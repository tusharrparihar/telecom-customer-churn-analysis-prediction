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obile 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Corben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51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3.svg"/><Relationship Id="rId3" Type="http://schemas.openxmlformats.org/officeDocument/2006/relationships/image" Target="../media/image5.jpeg"/><Relationship Id="rId7" Type="http://schemas.openxmlformats.org/officeDocument/2006/relationships/image" Target="../media/image-3-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-3-3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1898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Telecom Customer Churn: Analysis &amp; Prediction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1756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analytics project — SQL ETL, Power BI dashboarding, and machine learning churn prediction.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30662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D2D9F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23143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207841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6,563 customers analyzed | 26.3% churn rate | 538 at-risk customers identified.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9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029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6,563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65238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62029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1,727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265238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Churned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26.3%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48600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Churn Rate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561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660553" y="348600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New Customers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8669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Random Forest model trained on historical churn data reaches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85% accuracy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flags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538 of 561 new customers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at-risk, driven mainly by month-to-month contracts and competitor pressure.</a:t>
            </a:r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6828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Objectives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25119" y="1085478"/>
            <a:ext cx="4722763" cy="1039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3461" y="1476524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626471" y="1241822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 an ETL Pipeline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26471" y="1536129"/>
            <a:ext cx="386506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an ETL pipeline to clean and load customer data into a database.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925119" y="2258095"/>
            <a:ext cx="4722763" cy="1255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3461" y="2757339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626471" y="2414439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 an Interactive Power BI Dashboard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26471" y="2708746"/>
            <a:ext cx="3865066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an interactive Power BI dashboard covering demographics, geography, account details, payment methods, and services.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925119" y="3647033"/>
            <a:ext cx="4722763" cy="10396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3461" y="4038079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626471" y="3803377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 Customer Churn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26471" y="4097685"/>
            <a:ext cx="386506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 which customers are likely to churn using machine learning, so the business can act before they leave.</a:t>
            </a:r>
            <a:endParaRPr lang="en-US" sz="1050" dirty="0"/>
          </a:p>
        </p:txBody>
      </p:sp>
      <p:sp>
        <p:nvSpPr>
          <p:cNvPr id="16" name="Rectangle 15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&amp; Methodology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57" y="682154"/>
            <a:ext cx="727248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731" y="254421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Raw Data Loaded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49912" y="2518357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Quality Checks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1232" y="2526636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Cleaned &amp; Views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Raw data (6,563 records, 32 fields) loaded into SQL Server → null/quality checks across every field → cleaning with COALESCE defaults (e.g., missing add-on subscriptions set to "No") → two views created: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vw_ChurnData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(6,003 historical records: Churned/Stayed, used for analysis and model training) and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vw_JoinData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(561 new customers, used for prediction).</a:t>
            </a:r>
            <a:endParaRPr lang="en-US" sz="550" dirty="0"/>
          </a:p>
        </p:txBody>
      </p:sp>
      <p:sp>
        <p:nvSpPr>
          <p:cNvPr id="8" name="Rectangle 7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33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Who Is Churning: Demographics &amp; Geography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778943"/>
            <a:ext cx="4107135" cy="2241203"/>
          </a:xfrm>
          <a:prstGeom prst="roundRect">
            <a:avLst>
              <a:gd name="adj" fmla="val 4554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2070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283916"/>
            <a:ext cx="3823618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Churn rises with age —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22.2%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(18-25) vs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36.4%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(over 60)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Gender split of churners: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~56% female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~44% male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Fiber Optic customers churn at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40.6%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the highest of any internet type, despite being the premium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2070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5 Churn-Rate States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28391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above the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26.3% average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63827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Jammu &amp; Kashmir —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56.0%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Assam —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36.6%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Jharkhand —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33.1%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Delhi —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28.8%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Odisha —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27.3%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Customers Leave: Contracts &amp; Competition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25450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Contract Type — The Strongest Driver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89310"/>
            <a:ext cx="8151763" cy="4564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539405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Month-to-month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44.8%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churn vs One Year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10.9%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vs Two Year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2.7%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96119" y="5532239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Churn Reason Breakdown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5696099"/>
            <a:ext cx="8151763" cy="45649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1030084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Competitor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761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Attitude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301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Dissatisfaction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300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Price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196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Other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169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(total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1,727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). Competitor-driven churn (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44%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 all churn) is led by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"better devices"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(289) and </a:t>
            </a: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"better offers"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(274).</a:t>
            </a:r>
            <a:endParaRPr lang="en-US" sz="550" dirty="0"/>
          </a:p>
        </p:txBody>
      </p:sp>
      <p:sp>
        <p:nvSpPr>
          <p:cNvPr id="9" name="Rectangle 8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0029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Model: Approach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55887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Random Forest model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was trained on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6,003 historical customers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(80% train / 20% test) using demographics, account, and service data to learn churn patterns. It was then applied to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561 brand-new customers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no known outcome yet, to flag who is likely to churn next.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49426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350196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326606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Random Forest combines many decision rules to make one prediction.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988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Performance: Strengths and Limits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54658" y="2014761"/>
            <a:ext cx="1689199" cy="34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85%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93" y="1156469"/>
            <a:ext cx="2060004" cy="20600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383756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Overall Accuracy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727326" y="2014761"/>
            <a:ext cx="1689199" cy="34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95%</a:t>
            </a:r>
            <a:endParaRPr lang="en-US" sz="2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961" y="1156469"/>
            <a:ext cx="2060004" cy="20600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8787" y="3383756"/>
            <a:ext cx="2606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Correctly Identifies Customers Who Will Stay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99994" y="2014761"/>
            <a:ext cx="1689199" cy="34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62%</a:t>
            </a:r>
            <a:endParaRPr lang="en-US" sz="2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629" y="1156469"/>
            <a:ext cx="2060004" cy="20600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1454" y="3383756"/>
            <a:ext cx="2606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Correctly Catches Customers Who Will Churn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96119" y="3962474"/>
            <a:ext cx="8151763" cy="753963"/>
          </a:xfrm>
          <a:prstGeom prst="roundRect">
            <a:avLst>
              <a:gd name="adj" fmla="val 7650"/>
            </a:avLst>
          </a:prstGeom>
          <a:solidFill>
            <a:srgbClr val="FCF2B5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3" y="4156770"/>
            <a:ext cx="171599" cy="1372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2305" y="4129757"/>
            <a:ext cx="7568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model is reliable at confirming loyal customers, but currently misses roughly </a:t>
            </a:r>
            <a:r>
              <a:rPr lang="en-US" sz="10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 in 3 actual churners</a:t>
            </a: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recall on the churn class needs improvement before this drives an unsupervised retention program.</a:t>
            </a:r>
            <a:endParaRPr lang="en-US" sz="1050" dirty="0"/>
          </a:p>
        </p:txBody>
      </p:sp>
      <p:sp>
        <p:nvSpPr>
          <p:cNvPr id="15" name="Rectangle 14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67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At-Risk Customers: Who to Target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321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561 new customers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538 are flagged at risk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209502"/>
            <a:ext cx="4107135" cy="1837283"/>
          </a:xfrm>
          <a:prstGeom prst="roundRect">
            <a:avLst>
              <a:gd name="adj" fmla="val 5556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235126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At-Risk Profile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714476"/>
            <a:ext cx="3823618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89%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on month-to-month contracts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Largest group by tenure: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under 6 months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(213 customers)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 concentration: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36-50 years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(193 customers)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Gender: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340 female</a:t>
            </a: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198 male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35126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71447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Given the model's recall limits, prioritize this list further by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monthly charge, tenure, and referral count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rather than treating all 538 as equal priority.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22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0706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5939" y="1095598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9683" y="1116285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Target Month-to-Month Contract Holders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9683" y="139868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 month-to-month contract holders with incentives to switch to annual plans.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1853803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939" y="1878732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9683" y="1899419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Investigate the Fiber Optic Churn Spike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9683" y="2181820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Investigate the Fiber Optic churn spike — likely pricing or reliability issue, not a demand problem.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636937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939" y="266186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9683" y="2682553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Strengthen Competitive Positioning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9683" y="2964954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Strengthen competitive positioning on devices and offers, especially in </a:t>
            </a: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Jammu &amp; Kashmir, Assam, and Jharkhand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34200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939" y="344499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9683" y="3465686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Bundle Protective Add-Ons at Onboarding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9683" y="374808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Bundle protective add-ons (online security, premium support) into onboarding rather than selling them later.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4203204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939" y="4228133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9683" y="4248820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Improve Model Recall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9683" y="4531221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 model recall (class weighting or resampling) before scaling the prediction program to full production use.</a:t>
            </a:r>
            <a:endParaRPr lang="en-US" sz="1000" dirty="0"/>
          </a:p>
        </p:txBody>
      </p:sp>
      <p:sp>
        <p:nvSpPr>
          <p:cNvPr id="23" name="Rectangle 22"/>
          <p:cNvSpPr/>
          <p:nvPr/>
        </p:nvSpPr>
        <p:spPr>
          <a:xfrm>
            <a:off x="7928149" y="4772967"/>
            <a:ext cx="1215851" cy="370533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738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Nobile Bold</vt:lpstr>
      <vt:lpstr>Nobile</vt:lpstr>
      <vt:lpstr>Arial</vt:lpstr>
      <vt:lpstr>Corben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2</cp:revision>
  <dcterms:created xsi:type="dcterms:W3CDTF">2026-07-24T05:12:06Z</dcterms:created>
  <dcterms:modified xsi:type="dcterms:W3CDTF">2026-07-24T05:14:44Z</dcterms:modified>
</cp:coreProperties>
</file>